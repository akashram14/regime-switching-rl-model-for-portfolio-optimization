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5DB77F0-5378-4665-B10C-407584EE7C88}">
  <a:tblStyle styleId="{65DB77F0-5378-4665-B10C-407584EE7C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5bc4a961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5bc4a961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bc4a961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bc4a961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5bc4a96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5bc4a96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5bc4a961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5bc4a961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5bc4a961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5bc4a961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5bc4a961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5bc4a961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5bc4a961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5bc4a961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5bc4a961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5bc4a961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5bc4a961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5bc4a961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5bc4a961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5bc4a961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5bc4a961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5bc4a961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5bc4a961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5bc4a961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Regime-switching RL model for Portfolio Optimization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-Akash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What is the Problem? Why is it important?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Portfolio optimization aims to allocate capital across assets to balance return and risk. It is a fundamentally difficult problem due to “non-stationarity” of the data. Classical approaches break down in highly volatile and non-stationary markets.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Modern single agent RL algorithms fail to detect volatility changes in time, making them slow to market reactions.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n">
                <a:solidFill>
                  <a:schemeClr val="dk1"/>
                </a:solidFill>
              </a:rPr>
              <a:t>This project studies whether a </a:t>
            </a:r>
            <a:r>
              <a:rPr b="1" lang="en">
                <a:solidFill>
                  <a:schemeClr val="dk1"/>
                </a:solidFill>
              </a:rPr>
              <a:t>Regime switching reinforcement learning</a:t>
            </a:r>
            <a:r>
              <a:rPr lang="en">
                <a:solidFill>
                  <a:schemeClr val="dk1"/>
                </a:solidFill>
              </a:rPr>
              <a:t> based portfolio optimization can better adapt to market volatility and provide better returns compared to existing methods.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Current Approaches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Classical methods rely on fixed statistical assumptions like stationarity.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Existing models train a single policy agent across all market conditions.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These models struggle during high-volatility events, such as the 2008 and 2020 crashes.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Current research provides limited analysis of metrics other than sharpe ratio like portfolio drawdowns and stability across different market conditions.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Solution &amp; Contributions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propose a Hierarchical Mixture-of-Experts architecture.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approach decouples regime detection from policy execution.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will train distinct PPO agents explicitly on disjoint market conditions (e.g., high vs. low volatility).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goal is to better adapt to market volatility and improve returns compared to existing methods.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High-Level Architecture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233800" y="1017725"/>
            <a:ext cx="875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The current pipeline ingests Yfinance stock data to calculate three key features: daily log return, rolling volatility, and moving average. These inputs are fed into the regime-detection module , which evaluates the current market state and routes the execution to one of three specialized RL agents operating in low, medium, or high volatility conditions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9412" y="1535050"/>
            <a:ext cx="5227868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Milestone Update: Baseline Implementation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100">
                <a:solidFill>
                  <a:schemeClr val="dk1"/>
                </a:solidFill>
              </a:rPr>
              <a:t>I successfully reproduced a baseline comparing a PPO agent versus Mean-Variance Optimization (MVO).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Data:</a:t>
            </a:r>
            <a:r>
              <a:rPr lang="en" sz="1100">
                <a:solidFill>
                  <a:schemeClr val="dk1"/>
                </a:solidFill>
              </a:rPr>
              <a:t> 11 US sector ETFs from 2006 to 2024.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RL Configuration:</a:t>
            </a:r>
            <a:r>
              <a:rPr lang="en" sz="1100">
                <a:solidFill>
                  <a:schemeClr val="dk1"/>
                </a:solidFill>
              </a:rPr>
              <a:t> PPO agent utilizing a Differential Sharpe Ratio reward.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MVO Configuration:</a:t>
            </a:r>
            <a:r>
              <a:rPr lang="en" sz="1100">
                <a:solidFill>
                  <a:schemeClr val="dk1"/>
                </a:solidFill>
              </a:rPr>
              <a:t> Ledoit-Wolf shrinkage with a max-Sharpe objective.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7" name="Google Shape;87;p18"/>
          <p:cNvGraphicFramePr/>
          <p:nvPr/>
        </p:nvGraphicFramePr>
        <p:xfrm>
          <a:off x="868575" y="298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{65DB77F0-5378-4665-B10C-407584EE7C88}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Metric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DRL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MVO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Sharpe Ratio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1.17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Annualized Return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12.11%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6.53%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Max Drawdown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-32.96%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-33.03%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Baseline Results &amp; Identified Limitations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100">
                <a:solidFill>
                  <a:schemeClr val="dk1"/>
                </a:solidFill>
              </a:rPr>
              <a:t>The Deep Reinforcement Learning (DRL) agent achieved a Sharpe Ratio of 1.17 compared to MVO's 0.68.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100">
                <a:solidFill>
                  <a:schemeClr val="dk1"/>
                </a:solidFill>
              </a:rPr>
              <a:t>DRL Annualized Return was 12.11%, significantly outperforming MVO's 6.53%.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100">
                <a:solidFill>
                  <a:schemeClr val="dk1"/>
                </a:solidFill>
              </a:rPr>
              <a:t>However, both approaches suffered a similar Max Drawdown (approx. -33%).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Limitation Identified:</a:t>
            </a:r>
            <a:r>
              <a:rPr lang="en" sz="1100">
                <a:solidFill>
                  <a:schemeClr val="dk1"/>
                </a:solidFill>
              </a:rPr>
              <a:t> The single-agent strategy lacked regime awareness across varying volatility periods.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Gaussian HMM Configuration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Model:</a:t>
            </a:r>
            <a:r>
              <a:rPr lang="en" sz="1100">
                <a:solidFill>
                  <a:schemeClr val="dk1"/>
                </a:solidFill>
              </a:rPr>
              <a:t> Gaussian HMM utilizing the Expectation-Maximization (EM) algorithm to maximize log-likelihood.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Features Used:</a:t>
            </a:r>
            <a:r>
              <a:rPr lang="en" sz="1100">
                <a:solidFill>
                  <a:schemeClr val="dk1"/>
                </a:solidFill>
              </a:rPr>
              <a:t> Daily log return, 20-day rolling volatility, and Moving Average ratio (20/60).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Training Data:</a:t>
            </a:r>
            <a:r>
              <a:rPr lang="en" sz="1100">
                <a:solidFill>
                  <a:schemeClr val="dk1"/>
                </a:solidFill>
              </a:rPr>
              <a:t> S&amp;P 500 from 2006–2019 (3,522 days).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Testing Data:</a:t>
            </a:r>
            <a:r>
              <a:rPr lang="en" sz="1100">
                <a:solidFill>
                  <a:schemeClr val="dk1"/>
                </a:solidFill>
              </a:rPr>
              <a:t> S&amp;P 500 from 2020–2024 (1,258 days).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Fig. showing the HMM and threshold based regime detection.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HMM performs far lesser regime-switches.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400" y="2488250"/>
            <a:ext cx="4742702" cy="250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Selection: Why 3 Regimes?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tested models with 2, 3, 4, and 5 regimes.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Adding more regimes increases the risk of overfitting.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3-regime structure was determined to be optimal because it yielded the lowest Bayesian Information Criterion (BIC).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Transition matrices reveal that these regimes are "sticky," showing high persistence.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Fig. showing the transition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Matrix of the HMM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425" y="2820850"/>
            <a:ext cx="5748074" cy="21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Phase: RL Agents &amp; Reward Design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Objective:</a:t>
            </a:r>
            <a:r>
              <a:rPr lang="en" sz="1100">
                <a:solidFill>
                  <a:schemeClr val="dk1"/>
                </a:solidFill>
              </a:rPr>
              <a:t> Maximize cumulative return while minimizing risk, turnover, and transaction costs.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100">
                <a:solidFill>
                  <a:schemeClr val="dk1"/>
                </a:solidFill>
              </a:rPr>
              <a:t>Instead of relying solely on the Sharpe ratio, we will implement regime-specific reward functions.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Low-Volatility Regime:</a:t>
            </a:r>
            <a:r>
              <a:rPr lang="en" sz="1100">
                <a:solidFill>
                  <a:schemeClr val="dk1"/>
                </a:solidFill>
              </a:rPr>
              <a:t> Use the Sortino Ratio for asymmetric upside capture.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High-Volatility Regime:</a:t>
            </a:r>
            <a:r>
              <a:rPr lang="en" sz="1100">
                <a:solidFill>
                  <a:schemeClr val="dk1"/>
                </a:solidFill>
              </a:rPr>
              <a:t> Implement Risk Parity to minimize tail-risk.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Strategy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Metrics:</a:t>
            </a:r>
            <a:r>
              <a:rPr lang="en" sz="1100">
                <a:solidFill>
                  <a:schemeClr val="dk1"/>
                </a:solidFill>
              </a:rPr>
              <a:t> Cumulative return, Sharpe ratio, and Sortino ratio (to penalize only harmful downside volatility).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Baselines for Comparison:</a:t>
            </a:r>
            <a:r>
              <a:rPr lang="en" sz="1100">
                <a:solidFill>
                  <a:schemeClr val="dk1"/>
                </a:solidFill>
              </a:rPr>
              <a:t> Standard MVO and a Static PPO Agent without regime awareness.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Stress Testing:</a:t>
            </a:r>
            <a:r>
              <a:rPr lang="en" sz="1100">
                <a:solidFill>
                  <a:schemeClr val="dk1"/>
                </a:solidFill>
              </a:rPr>
              <a:t> Evaluate out-of-sample performance during "Black Swan" events, such as the 2008 crash.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100">
                <a:solidFill>
                  <a:schemeClr val="dk1"/>
                </a:solidFill>
              </a:rPr>
              <a:t>We will also analyze the model's switching latency and its implications.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 &amp; Roadmap</a:t>
            </a:r>
            <a:endParaRPr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Late January (Completed):</a:t>
            </a:r>
            <a:r>
              <a:rPr lang="en" sz="1100">
                <a:solidFill>
                  <a:schemeClr val="dk1"/>
                </a:solidFill>
              </a:rPr>
              <a:t> Literature review, dataset selection, and baseline implementation.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February (Completed):</a:t>
            </a:r>
            <a:r>
              <a:rPr lang="en" sz="1100">
                <a:solidFill>
                  <a:schemeClr val="dk1"/>
                </a:solidFill>
              </a:rPr>
              <a:t> Environment setup, RL model definition, and regime detection implementation. </a:t>
            </a:r>
            <a:r>
              <a:rPr i="1" lang="en" sz="1100">
                <a:solidFill>
                  <a:schemeClr val="dk1"/>
                </a:solidFill>
              </a:rPr>
              <a:t>(Specifically, finalizing the Gaussian HMM).</a:t>
            </a:r>
            <a:endParaRPr i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March (Current Focus):</a:t>
            </a:r>
            <a:r>
              <a:rPr lang="en" sz="1100">
                <a:solidFill>
                  <a:schemeClr val="dk1"/>
                </a:solidFill>
              </a:rPr>
              <a:t> Training, backtesting, and baseline comparisons. </a:t>
            </a:r>
            <a:r>
              <a:rPr i="1" lang="en" sz="1100">
                <a:solidFill>
                  <a:schemeClr val="dk1"/>
                </a:solidFill>
              </a:rPr>
              <a:t>(Currently training the 3 specialized PPO agents and evaluating the regime-switching routing).</a:t>
            </a:r>
            <a:endParaRPr i="1"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 sz="1100">
                <a:solidFill>
                  <a:schemeClr val="dk1"/>
                </a:solidFill>
              </a:rPr>
              <a:t>April (Upcoming):</a:t>
            </a:r>
            <a:r>
              <a:rPr lang="en" sz="1100">
                <a:solidFill>
                  <a:schemeClr val="dk1"/>
                </a:solidFill>
              </a:rPr>
              <a:t> Final evaluation, report generation, and final presentation.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